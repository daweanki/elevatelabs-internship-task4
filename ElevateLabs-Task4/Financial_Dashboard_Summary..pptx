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Lato" panose="020F0502020204030204" pitchFamily="34" charset="0"/>
      <p:regular r:id="rId8"/>
      <p:bold r:id="rId9"/>
      <p:italic r:id="rId10"/>
      <p:boldItalic r:id="rId11"/>
    </p:embeddedFont>
    <p:embeddedFont>
      <p:font typeface="Lato Light" panose="020F0302020204030203" pitchFamily="34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SemiBold" panose="020B0502040204020203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4120455"/>
            <a:ext cx="71437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" y="9525"/>
            <a:ext cx="12172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00125" y="2156519"/>
            <a:ext cx="6080760" cy="118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Financial Performance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Dashboard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00125" y="348228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Data Analyst Internship — Task 4 Submission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00125" y="4368105"/>
            <a:ext cx="10858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Prepared By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Ankita Daweshar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466975" y="4368105"/>
            <a:ext cx="885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Organization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Elevate Labs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33800" y="4368105"/>
            <a:ext cx="6667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June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19325"/>
            <a:ext cx="5070871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2896" y="2219325"/>
            <a:ext cx="5578078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9525"/>
            <a:ext cx="12172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104900" y="2457450"/>
            <a:ext cx="452431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Objective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19150" y="2857500"/>
            <a:ext cx="459462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Design and engineer an interactive, dual-page Business Intelligence dashboard in Power BI to deliver deep, actionable financial insights to corporate leadership.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37721" y="2457450"/>
            <a:ext cx="507688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&amp; Tooling Details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271021" y="2857500"/>
            <a:ext cx="51018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Explored Kaggle's verified Global Financial Sample dataset to trace enterprise operations across diverse global markets.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5050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09650" y="3695700"/>
            <a:ext cx="440412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Empower management with **real-time visual analysis** of net revenue, cost variables, and profit margins.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9650" y="4248150"/>
            <a:ext cx="440412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Uncover margin performance variance across countries and segment lines.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9650" y="4800600"/>
            <a:ext cx="44041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Utilize dynamic filters to slice results by product, country, and year.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71021" y="25050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461521" y="3467100"/>
            <a:ext cx="49113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**Dataset Structure:** 700 rows × 16 columns (referenced as *Financials.csv*).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461521" y="3790950"/>
            <a:ext cx="49113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**Primary Tool:** **Power BI Desktop** for data transformation, DAX modeling, KPI tracking, and interactive UX design.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461521" y="4343400"/>
            <a:ext cx="49113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**Key Columns Analyzed:** Segment, Country, Product, Units Sold, Gross Sales, Sales, COGS, Profit, and Dates.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19150" y="367665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19150" y="422910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19150" y="478155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271021" y="344805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271021" y="377190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271021" y="432435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Objective &amp; Dataset Specifications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581025" y="971550"/>
            <a:ext cx="538162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2896" y="1981200"/>
            <a:ext cx="5578078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21347"/>
            <a:ext cx="2478285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73610" y="2921347"/>
            <a:ext cx="2478285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662362"/>
            <a:ext cx="2478285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73610" y="3662362"/>
            <a:ext cx="2478285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5" y="9525"/>
            <a:ext cx="12172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81025" y="1959322"/>
            <a:ext cx="532441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Global Sales Overview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81025" y="2321272"/>
            <a:ext cx="50708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Analysis of Page 1 (*Sales_overview.png*) highlights strong public sector demand and exceptionally healthy geographic distribution of revenue.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42950" y="3026122"/>
            <a:ext cx="21734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$117.87M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42950" y="3319462"/>
            <a:ext cx="217348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NET SALES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3335535" y="3026122"/>
            <a:ext cx="21734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3335535" y="3319462"/>
            <a:ext cx="217348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TOP COUNTRY ($25.03M)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42950" y="3767137"/>
            <a:ext cx="21734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Government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42950" y="4060477"/>
            <a:ext cx="217348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BEST SEGMENT ($52.50M)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3335535" y="3767137"/>
            <a:ext cx="21734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October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3335535" y="4060477"/>
            <a:ext cx="217348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SEASONAL SALES PEAK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47725" y="4479577"/>
            <a:ext cx="48041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**Government Segment** dominates the business, driving 44.5% of overall global revenue.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47725" y="5051077"/>
            <a:ext cx="48041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North American region (USA + Canada) contributes a massive **$49.92M** in combined sales.</a:t>
            </a:r>
            <a:endParaRPr/>
          </a:p>
        </p:txBody>
      </p:sp>
      <p:pic>
        <p:nvPicPr>
          <p:cNvPr id="143" name="Google Shape;14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0075" y="451767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0075" y="508917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Sales Performance Analysis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581025" y="971550"/>
            <a:ext cx="6467475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5" title="Sales_overview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39675" y="1981200"/>
            <a:ext cx="5401550" cy="352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2896" y="1981200"/>
            <a:ext cx="5578078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21347"/>
            <a:ext cx="2478285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73610" y="2921347"/>
            <a:ext cx="2478285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662362"/>
            <a:ext cx="2478285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73610" y="3662362"/>
            <a:ext cx="2478285" cy="626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5" y="9525"/>
            <a:ext cx="12172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581025" y="1959322"/>
            <a:ext cx="532441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Operating Margins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81025" y="2321272"/>
            <a:ext cx="50708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Analysis of Page 2 (*Profit_analysis.png*) assesses operational cost elements relative to net earnings, highlighting excellent product margins.</a:t>
            </a:r>
            <a:endParaRPr/>
          </a:p>
        </p:txBody>
      </p:sp>
      <p:pic>
        <p:nvPicPr>
          <p:cNvPr id="161" name="Google Shape;161;p16" title="Profit_analysis.png"/>
          <p:cNvPicPr preferRelativeResize="0"/>
          <p:nvPr/>
        </p:nvPicPr>
        <p:blipFill rotWithShape="1">
          <a:blip r:embed="rId10">
            <a:alphaModFix/>
          </a:blip>
          <a:srcRect l="6732" r="6732"/>
          <a:stretch/>
        </p:blipFill>
        <p:spPr>
          <a:xfrm>
            <a:off x="6042421" y="1990725"/>
            <a:ext cx="5559028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742950" y="3026122"/>
            <a:ext cx="21734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$16.89M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742950" y="3319462"/>
            <a:ext cx="2173500" cy="1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NET PROFIT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3335535" y="3026122"/>
            <a:ext cx="21734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Paseo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3335535" y="3319462"/>
            <a:ext cx="2173500" cy="1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TOP PRODUCT ($4.80M)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742950" y="3767137"/>
            <a:ext cx="21734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$100.98M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742950" y="4060477"/>
            <a:ext cx="217348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COGS (COST)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3335535" y="3767137"/>
            <a:ext cx="217348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14.3%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3335535" y="4060477"/>
            <a:ext cx="2173485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PROFIT-TO-SALES RATIO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847725" y="4479577"/>
            <a:ext cx="48041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**Government segment** drives enterprise profits with **$11.39M** in total net gains.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47725" y="5051077"/>
            <a:ext cx="48041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Healthy overall margin profile, offset primarily by selective low-performing business segments.</a:t>
            </a:r>
            <a:endParaRPr/>
          </a:p>
        </p:txBody>
      </p:sp>
      <p:pic>
        <p:nvPicPr>
          <p:cNvPr id="172" name="Google Shape;17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0075" y="4517677"/>
            <a:ext cx="1619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0075" y="508917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Profitability &amp; Margin Analysis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581025" y="971550"/>
            <a:ext cx="611981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6" title="Profit_analysis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09050" y="1905000"/>
            <a:ext cx="5696001" cy="372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81250"/>
            <a:ext cx="5070871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2896" y="2381250"/>
            <a:ext cx="5578078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" y="9525"/>
            <a:ext cx="12172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1104900" y="2619375"/>
            <a:ext cx="452431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Findings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509146" y="2619375"/>
            <a:ext cx="510688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Recommended Roadmap</a:t>
            </a:r>
            <a:endParaRPr/>
          </a:p>
        </p:txBody>
      </p:sp>
      <p:pic>
        <p:nvPicPr>
          <p:cNvPr id="187" name="Google Shape;18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26670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71021" y="266700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1085850" y="3019425"/>
            <a:ext cx="432792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**Segment Concentration:** Government and Small Business capture the bulk of profit margins, while the Enterprise segment currently represents an operational drag.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85850" y="3819525"/>
            <a:ext cx="432792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**Product Leaders:** *Paseo* generates strong profit ($4.80M) while *Carretera* lags behind as the weakest profit contributor.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085850" y="4391025"/>
            <a:ext cx="432792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**Seasonal Volatility:** Year-end sales peaks in October ($20.55M) and December ($19.34M) heavily dictate annual working capital.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537721" y="3019425"/>
            <a:ext cx="48351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**Optimize Resource Allocation:** Direct sales and operational resources toward securing high-margin Government contracts and Small Business pipelines.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537721" y="3819525"/>
            <a:ext cx="4835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**Control COGS &amp; Pricing:** Audit and negotiate manufacturing/discount rates for underperforming product lines to elevate Carretera's performance.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6537721" y="4391025"/>
            <a:ext cx="4835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**Targeted Marketing Campaigns:** Build proactive promotional and distribution strategy ahead of the Q4 spike (October and December).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19150" y="30003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819150" y="38004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819150" y="43719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271021" y="30003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271021" y="38004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6271021" y="437197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201" name="Google Shape;20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" y="30575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200" y="385762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8200" y="44291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90071" y="30575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90071" y="38576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290071" y="442912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Strategy &amp; Next Steps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581025" y="971550"/>
            <a:ext cx="5872162" cy="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Office PowerPoint</Application>
  <PresentationFormat>Widescreen</PresentationFormat>
  <Paragraphs>63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Poppins SemiBold</vt:lpstr>
      <vt:lpstr>Arial</vt:lpstr>
      <vt:lpstr>Poppins</vt:lpstr>
      <vt:lpstr>Lato</vt:lpstr>
      <vt:lpstr>Lato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Ankita Daweshar</dc:creator>
  <cp:lastModifiedBy>Ankita Daweshar</cp:lastModifiedBy>
  <cp:revision>1</cp:revision>
  <dcterms:modified xsi:type="dcterms:W3CDTF">2026-06-04T15:45:13Z</dcterms:modified>
</cp:coreProperties>
</file>