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SemiBold" panose="000007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925" y="3853755"/>
            <a:ext cx="57150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04925" y="1823144"/>
            <a:ext cx="6275784" cy="118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Financial Performance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Dashboard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04925" y="3196530"/>
            <a:ext cx="52959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4B8A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Analyst Internship — Task 4 Submission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04925" y="4101405"/>
            <a:ext cx="276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Ankita Daweshar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57675" y="4101405"/>
            <a:ext cx="276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Organization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Elevate Labs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04925" y="4663380"/>
            <a:ext cx="2762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044451"/>
            <a:ext cx="5276850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44451"/>
            <a:ext cx="5276850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33972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381125" y="2358776"/>
            <a:ext cx="19602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Objective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62050" y="2920751"/>
            <a:ext cx="44958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 and engineer an interactive, </a:t>
            </a:r>
            <a:r>
              <a:rPr lang="en-US" sz="1125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three-page Business Intelligence dashboard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Power BI to deliver deep, actionable financial insights to corporate leadership.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162050" y="3677989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Empower management with </a:t>
            </a: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visual analysis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net revenue, cost variables, and profit margins.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62050" y="4220914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Uncover margin performance variance across countries and segment lines.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62050" y="4763839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 dynamic filters to slice results by product, country, and year.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339726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915150" y="2358776"/>
            <a:ext cx="259032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 &amp; Tooling Details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24650" y="2920751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Explored Kaggle's verified Global Financial Sample dataset to trace enterprise operations across diverse global markets.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24650" y="3463676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Dataset Structure: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700 rows × 16 columns (referenced as </a:t>
            </a:r>
            <a:r>
              <a:rPr lang="en-US" sz="1125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Financials.csv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24650" y="4006601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Primary Tool: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 BI Desktop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data transformation, DAX modeling, KPI tracking, and interactive UX design.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24650" y="4549526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Columns Analyzed: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Segment, Country, Product, Units Sold, Gross Sales, Sales, COGS, Profit, and Dates.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71550" y="2920751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71550" y="3677989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71550" y="4220914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71550" y="4763839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34150" y="2920751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4150" y="3463676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34150" y="4006601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34150" y="4549526"/>
            <a:ext cx="85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19150" y="485775"/>
            <a:ext cx="1123140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OBJECTIVE &amp; DATASET SPECIFICATIONS</a:t>
            </a:r>
            <a:endParaRPr dirty="0"/>
          </a:p>
        </p:txBody>
      </p:sp>
      <p:sp>
        <p:nvSpPr>
          <p:cNvPr id="119" name="Google Shape;119;p14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8775" y="1670595"/>
            <a:ext cx="60769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801564"/>
            <a:ext cx="28956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120776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8462" y="3120776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930401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8462" y="3930401"/>
            <a:ext cx="2119312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76275" y="2287339"/>
            <a:ext cx="43815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Analysis of Page 1 (page1_sales_overview.png) highlights strong public sector demand and exceptionally healthy geographic distribution of revenue.</a:t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8">
            <a:alphaModFix/>
          </a:blip>
          <a:srcRect/>
          <a:stretch/>
        </p:blipFill>
        <p:spPr>
          <a:xfrm>
            <a:off x="5553075" y="1927677"/>
            <a:ext cx="5810250" cy="359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" y="1887289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66775" y="4787651"/>
            <a:ext cx="41910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Government Segment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dominates the business, driving 44.5% of overall global revenue.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66775" y="5316289"/>
            <a:ext cx="41910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North American region (USA + Canada) contributes a massive </a:t>
            </a: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$49.92M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combined sales.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28675" y="3244601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$117.87M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28675" y="3530351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NET SALES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090862" y="3244601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090862" y="3530351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TOP COUNTRY ($25.03M)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28675" y="4054226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Government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8675" y="4339976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SEGMENT ($52.50M)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090862" y="4054226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October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090862" y="4339976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SEASONAL SALES PEAK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76275" y="4787651"/>
            <a:ext cx="142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76275" y="5316289"/>
            <a:ext cx="142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19150" y="485775"/>
            <a:ext cx="1123140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GLOBAL SALES OVERVIEW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8775" y="1670595"/>
            <a:ext cx="60769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801564"/>
            <a:ext cx="2886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120776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8462" y="3120776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930401"/>
            <a:ext cx="211931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8462" y="3930401"/>
            <a:ext cx="2119312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676275" y="2287339"/>
            <a:ext cx="43815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Analysis of Page 2 (page3_profit_analysis.png) assesses operational cost elements relative to net earnings, highlighting excellent product margins.</a:t>
            </a:r>
            <a:endParaRPr/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8">
            <a:alphaModFix/>
          </a:blip>
          <a:srcRect/>
          <a:stretch/>
        </p:blipFill>
        <p:spPr>
          <a:xfrm>
            <a:off x="5572125" y="1932160"/>
            <a:ext cx="5810250" cy="366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" y="1887289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866775" y="4787651"/>
            <a:ext cx="41910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Government segment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drives enterprise profits with </a:t>
            </a: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$11.39M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total net gains.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66775" y="5316289"/>
            <a:ext cx="41910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Healthy overall margin profile, offset primarily by selective low-performing business segments.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28675" y="3244601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$16.89M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28675" y="3530351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NET PROFIT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090862" y="3244601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Paseo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3090862" y="3530351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TOP PRODUCT ($4.80M)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28675" y="4054226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$100.98M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28675" y="4339976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COGS (COST)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3090862" y="4054226"/>
            <a:ext cx="18145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4B8A6"/>
                </a:solidFill>
                <a:latin typeface="Montserrat"/>
                <a:ea typeface="Montserrat"/>
                <a:cs typeface="Montserrat"/>
                <a:sym typeface="Montserrat"/>
              </a:rPr>
              <a:t>14.3%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3090862" y="4339976"/>
            <a:ext cx="18145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PROFIT-TO-SALES RATIO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76275" y="4787651"/>
            <a:ext cx="142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76275" y="5316289"/>
            <a:ext cx="142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19150" y="485775"/>
            <a:ext cx="1123140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PROFITABILITY &amp; MARGIN ANALYSIS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099220"/>
            <a:ext cx="52768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099220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1276350" y="2346870"/>
            <a:ext cx="4600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Findings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971550" y="2670720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838950" y="2346870"/>
            <a:ext cx="4600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Recommended Roadmap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534150" y="2670720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36592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971550" y="2870745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Segment Concentration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Government and Small Business capture the bulk of profit margins, while the Enterprise segment currently represents an operational drag.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971550" y="3699420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Product Leaders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87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Paseo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generates strong profit ($4.80M) while </a:t>
            </a:r>
            <a:r>
              <a:rPr lang="en-US" sz="1087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Carretera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lags behind as the weakest profit contributor.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971550" y="4528095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Seasonal Volatility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Year-end sales peaks in October ($20.55M) and December ($19.34M) heavily dictate annual working capital.</a:t>
            </a:r>
            <a:endParaRPr/>
          </a:p>
        </p:txBody>
      </p:sp>
      <p:pic>
        <p:nvPicPr>
          <p:cNvPr id="191" name="Google Shape;19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36592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6534150" y="2870745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Optimize Resource Allocation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 sales and operational resources toward securing high-margin Government contracts and Small Business pipelines.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534150" y="3699420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Control COGS &amp; Pricing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Audit and negotiate manufacturing/discount rates for underperforming product lines to elevate Carretera's performance.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534150" y="4528095"/>
            <a:ext cx="4686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Targeted Marketing Campaigns</a:t>
            </a:r>
            <a:r>
              <a:rPr lang="en-US" sz="1087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 proactive promotional and distribution strategy ahead of the Q4 spike (October and December).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19150" y="485775"/>
            <a:ext cx="1123140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 STRATEGY &amp; NEXT STEPS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76275" y="485775"/>
            <a:ext cx="47625" cy="3885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Montserrat</vt:lpstr>
      <vt:lpstr>Arial</vt:lpstr>
      <vt:lpstr>Calibri</vt:lpstr>
      <vt:lpstr>Montserrat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Ankita Daweshar</dc:creator>
  <cp:lastModifiedBy>Ankita Daweshar</cp:lastModifiedBy>
  <cp:revision>1</cp:revision>
  <dcterms:modified xsi:type="dcterms:W3CDTF">2026-06-24T05:49:35Z</dcterms:modified>
</cp:coreProperties>
</file>